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82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69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El tablero del macroentorno ya existía y funcionaba. El problema real estaba antes: la actualización de los datos era manual, lenta y costosa mes a mes. Ese costo repetido era lo que impedía escalar, y por eso llega el RPA. El objetivo del reto: automatizar e integrar 9 fuentes públicas de BCE, INEC, Supercías y MINEDUC.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Bronze: recepción cruda de lo que entrega el RPA en Oracle. Silver: limpieza de ruido y construcción de un almacén relacional estructurado bajo Modelo Estrella. Gold: las vistas analíticas que consume el tablero.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Prefect funciona como un sistema de alarmas y control: asegura el orden de ejecución, aísla los errores si una fuente del gobierno falla, y evita que todo el tablero colapse por un problema puntual en una sola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números: 9 fuentes públicas integradas, más de 1.9 millones de registros procesados, 7 tablas en la capa Silver y 6 vistas Gold. Y sobre todo: el sistema opera de manera autónoma, procesando el historial completo de fuentes complejas como Supercías sin intervención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Recorrido del tablero: explicar el cruce estratégico entre bachilleres y empresas activas por provincia — dónde hay oferta de estudiantes y dónde hay demanda empresarial, y qué decisión permite tomar eso a la universidad.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en 1 minuto. Conclusión: pasamos de descargas manuales a un flujo gobernado y automatizado. Recomendaciones y trabajo futuro: escalabilidad cloud del almacén e IA predictiva usando la capa Gold para modelos de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LÍNEA DE INGENIERÍA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Automatizado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Macroentorno UTPL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5577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chemeClr val="bg1"/>
                </a:solidFill>
                <a:latin typeface="Calibri "/>
              </a:rPr>
              <a:t>El tablero ya existía, pero cada vez que salían datos nuevos, tocaba volver a descargar y procesar todo a mano.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actualización era manual, lenta y costosa mes a mes</a:t>
            </a:r>
            <a:endParaRPr lang="en-US" sz="15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chemeClr val="bg1"/>
                </a:solidFill>
                <a:latin typeface="Calibri "/>
              </a:rPr>
              <a:t>Al depender de 9 fuentes públicas distintas, era urgente un flujo programable que se ejecutara solo y sin intervención humana.</a:t>
            </a:r>
            <a:endParaRPr lang="en-US" sz="1500" dirty="0">
              <a:solidFill>
                <a:schemeClr val="bg1"/>
              </a:solidFill>
              <a:latin typeface="Calibri 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49440" y="329184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040880" y="4251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49640" y="329184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641080" y="4251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49840" y="329184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0" y="34747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0241280" y="4251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al año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automatizar e integrar BCE · INEC · Supercías · MINEDUC en un pipeline reproducible.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Alejandro Rivas Reinoso  ·  Carrera de Computación  ·  Loja, Ecuador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SOLUCIÓN Y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capas, una sola dirección: del dato crudo a la vista lista para decidir.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95728"/>
            <a:ext cx="502920" cy="50292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cruda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RPA en Oracle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transformar: se conserva el origen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aterrizaje trazable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41648" y="35204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B33A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395728"/>
            <a:ext cx="502920" cy="502920"/>
          </a:xfrm>
          <a:prstGeom prst="ellipse">
            <a:avLst/>
          </a:prstGeom>
          <a:solidFill>
            <a:srgbClr val="9FB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492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modelo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154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ruido y estandarización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relacional estructurado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Estrella: 7 tablas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90688" y="35204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B33A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38160" y="21031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2395728"/>
            <a:ext cx="502920" cy="50292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9828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analíticas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3154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C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vistas listas para consumo</a:t>
            </a:r>
            <a:endParaRPr lang="es-EC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C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estratégicos del reto para la respuesta  a las preguntas planteadas</a:t>
            </a:r>
            <a:endParaRPr lang="es-EC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C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el tablero directo</a:t>
            </a:r>
            <a:endParaRPr lang="es-EC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es reejecutable de forma independiente: se puede reconstruir Silver sin volver a extraer nada.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DGTITD · UTPL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SOLUCIÓN Y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Prefect: un sistema de alarmas y control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el orden del proceso y avisa cuando algo falla, en lugar de fallar en silencio.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614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5786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99923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dirty="0">
                <a:solidFill>
                  <a:schemeClr val="bg1"/>
                </a:solidFill>
              </a:rPr>
              <a:t>El flujo completo se programa. Ya no hay que ejecutar nada a mano cada vez que salen datos nuevos; el proceso trabaja de forma autónoma.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4297680"/>
            <a:ext cx="548640" cy="548640"/>
          </a:xfrm>
          <a:prstGeom prst="ellipse">
            <a:avLst/>
          </a:prstGeom>
          <a:solidFill>
            <a:srgbClr val="E8B33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361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41788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Aísla los errores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459943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dirty="0">
                <a:solidFill>
                  <a:schemeClr val="bg1"/>
                </a:solidFill>
              </a:rPr>
              <a:t>Si una de las sentencias de limpieza/normalización falla, </a:t>
            </a:r>
            <a:r>
              <a:rPr lang="es-ES" sz="1400" dirty="0" err="1">
                <a:solidFill>
                  <a:schemeClr val="bg1"/>
                </a:solidFill>
              </a:rPr>
              <a:t>Prefect</a:t>
            </a:r>
            <a:r>
              <a:rPr lang="es-ES" sz="1400" dirty="0">
                <a:solidFill>
                  <a:schemeClr val="bg1"/>
                </a:solidFill>
              </a:rPr>
              <a:t> solo detiene esa. Las demás fuentes continúan actualizándose y el tablero no colapsa, así mismo nos muestra una grafica de la ejecución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resultado: un fallo puntual se ve, se ubica y se reintenta — no se descubre semanas después en el tablero.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DGTITD · UTPL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pipeline entrega hoy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· INEC · Supercías · MINEDUC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 M+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661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procesados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ejecución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Silver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estrella normalizado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A3A63"/>
          </a:solidFill>
          <a:ln w="12700">
            <a:solidFill>
              <a:srgbClr val="1334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Gold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para el tablero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3345C"/>
          </a:solidFill>
          <a:ln w="12700">
            <a:solidFill>
              <a:srgbClr val="2550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00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autónoma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5166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ahora opera de manera autónoma, procesando el historial completo de fuentes complejas (como Supercías) sin intervención humana.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DGTITD · UTPL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DEMO DEL TABLERO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en uso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4114800"/>
          </a:xfrm>
          <a:prstGeom prst="roundRect">
            <a:avLst>
              <a:gd name="adj" fmla="val 2667"/>
            </a:avLst>
          </a:prstGeom>
          <a:solidFill>
            <a:srgbClr val="13345C"/>
          </a:solidFill>
          <a:ln w="12700">
            <a:solidFill>
              <a:srgbClr val="E8B33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869680" y="160020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1A3A63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del Dato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0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Traduciendo millones de datos limpios en respuestas visuales inmediatas.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41148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tablero capaz de cruzar la oferta de talento frente al tejido empresarial para la toma de decisiones.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DGTITD · UTPL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3E3CCD9-BD76-42AD-9C93-BB531BBE9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96" y="1653467"/>
            <a:ext cx="6433913" cy="3984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CONCLUSIONES Y TRABAJO FUTURO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cumplido, camino abierto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1A3A63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Pasamos de descargas manuales a un flujo gobernado y automatizado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55869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está cumplido: el proceso es reproducible y orquestado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actualización mensual deja de depender de trabajo manual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entrega datos limpios y listos para decidir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13345C"/>
          </a:solidFill>
          <a:ln w="12700">
            <a:solidFill>
              <a:srgbClr val="255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· TRABAJO FUTURO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651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Predictiva y Escalabilidad Cloud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el almacén a la nube para crecer en volumen y acceso concurrente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capa Gold para modelos de Machine 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 — Jesús Alejandro Rivas Reinoso · DGTITD · UTPL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DGTITD · UTPL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863</Words>
  <Application>Microsoft Office PowerPoint</Application>
  <PresentationFormat>Panorámica</PresentationFormat>
  <Paragraphs>104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JESUS ALEJANDRO RIVAS REINOSO</cp:lastModifiedBy>
  <cp:revision>4</cp:revision>
  <dcterms:created xsi:type="dcterms:W3CDTF">2026-07-23T04:31:41Z</dcterms:created>
  <dcterms:modified xsi:type="dcterms:W3CDTF">2026-07-23T04:52:43Z</dcterms:modified>
</cp:coreProperties>
</file>