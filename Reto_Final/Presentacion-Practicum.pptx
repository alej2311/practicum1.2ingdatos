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78" y="1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FF5C71-0BF1-4B11-94FF-2380205940B0}" type="datetimeFigureOut">
              <a:rPr lang="es-EC" smtClean="0"/>
              <a:t>14/7/2026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7226E5-A396-4CEF-AB75-991CDB5313F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18570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7226E5-A396-4CEF-AB75-991CDB5313FD}" type="slidenum">
              <a:rPr lang="es-EC" smtClean="0"/>
              <a:t>2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0402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62000" y="1440892"/>
            <a:ext cx="76200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1541115"/>
            <a:ext cx="11201400" cy="2077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s-ES" sz="4500" b="1" i="0" u="none" dirty="0" err="1">
                <a:solidFill>
                  <a:srgbClr val="F8FAFC"/>
                </a:solidFill>
                <a:latin typeface="Montserrat"/>
              </a:rPr>
              <a:t>Practicum</a:t>
            </a:r>
            <a:r>
              <a:rPr lang="es-ES" sz="4500" b="1" i="0" u="none" dirty="0">
                <a:solidFill>
                  <a:srgbClr val="F8FAFC"/>
                </a:solidFill>
                <a:latin typeface="Montserrat"/>
              </a:rPr>
              <a:t> Interno</a:t>
            </a:r>
            <a:r>
              <a:rPr dirty="0"/>
              <a:t>
</a:t>
            </a:r>
            <a:r>
              <a:rPr lang="es-ES" sz="4500" b="1" i="0" u="none" dirty="0">
                <a:solidFill>
                  <a:srgbClr val="FBBF24"/>
                </a:solidFill>
                <a:latin typeface="Montserrat"/>
              </a:rPr>
              <a:t>Línea de Datos: Ingeniería, Analítica y Visualización</a:t>
            </a:r>
            <a:endParaRPr sz="4500" b="1" i="0" u="none" dirty="0">
              <a:solidFill>
                <a:srgbClr val="FBBF24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3618607"/>
            <a:ext cx="106680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2100" b="0" i="0" u="none">
                <a:solidFill>
                  <a:srgbClr val="FBBF24"/>
                </a:solidFill>
                <a:latin typeface="Open Sans"/>
              </a:rPr>
              <a:t>Pipeline Automatizado del Macroentorno UTPL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4372867"/>
            <a:ext cx="10525125" cy="615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s-ES" sz="1650" b="0" i="0" u="none" dirty="0">
                <a:solidFill>
                  <a:srgbClr val="CBD5E1"/>
                </a:solidFill>
                <a:latin typeface="Open Sans"/>
              </a:rPr>
              <a:t>Jesús Rivas R.</a:t>
            </a:r>
            <a:r>
              <a:rPr dirty="0"/>
              <a:t>
</a:t>
            </a:r>
            <a:r>
              <a:rPr lang="es-ES" sz="1650" b="0" i="0" u="none" dirty="0">
                <a:solidFill>
                  <a:srgbClr val="94A3B8"/>
                </a:solidFill>
                <a:latin typeface="Open Sans"/>
              </a:rPr>
              <a:t>Cuarto Ciclo - Computación - UTPL</a:t>
            </a:r>
            <a:endParaRPr sz="1650" b="0" i="0" u="none" dirty="0">
              <a:solidFill>
                <a:srgbClr val="94A3B8"/>
              </a:solidFill>
              <a:latin typeface="Open San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2000" y="4372867"/>
            <a:ext cx="38100" cy="6286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5219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Montserrat"/>
              </a:rPr>
              <a:t>Contexto del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217265"/>
            <a:ext cx="5286375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28159" y="500062"/>
            <a:ext cx="5857875" cy="58578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165895"/>
            <a:ext cx="5286375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CBD5E1"/>
                </a:solidFill>
                <a:latin typeface="Open Sans"/>
              </a:rPr>
              <a:t>El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propósito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principal de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este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prácticum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es </a:t>
            </a:r>
            <a:r>
              <a:rPr sz="1650" b="1" i="0" u="none" dirty="0" err="1">
                <a:solidFill>
                  <a:srgbClr val="CBD5E1"/>
                </a:solidFill>
                <a:latin typeface="Open Sans"/>
              </a:rPr>
              <a:t>construir</a:t>
            </a:r>
            <a:r>
              <a:rPr sz="1650" b="1" i="0" u="none" dirty="0">
                <a:solidFill>
                  <a:srgbClr val="CBD5E1"/>
                </a:solidFill>
                <a:latin typeface="Open Sans"/>
              </a:rPr>
              <a:t> un pipeline de </a:t>
            </a:r>
            <a:r>
              <a:rPr sz="1650" b="1" i="0" u="none" dirty="0" err="1">
                <a:solidFill>
                  <a:srgbClr val="CBD5E1"/>
                </a:solidFill>
                <a:latin typeface="Open Sans"/>
              </a:rPr>
              <a:t>datos</a:t>
            </a:r>
            <a:r>
              <a:rPr sz="1650" b="1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1" i="0" u="none" dirty="0" err="1">
                <a:solidFill>
                  <a:srgbClr val="CBD5E1"/>
                </a:solidFill>
                <a:latin typeface="Open Sans"/>
              </a:rPr>
              <a:t>sostenible</a:t>
            </a:r>
            <a:r>
              <a:rPr sz="1650" b="1" i="0" u="none" dirty="0">
                <a:solidFill>
                  <a:srgbClr val="CBD5E1"/>
                </a:solidFill>
                <a:latin typeface="Open Sans"/>
              </a:rPr>
              <a:t> y reproducible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que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reemplace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procesos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operativos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manuales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y lentos.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251745"/>
            <a:ext cx="5286375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Nuestra misión fue integrar indicadores económicos y laborales provenientes de nueve fuentes públicas del país (BCE, INEC, Supercías, MINEDUC).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337595"/>
            <a:ext cx="5286375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Al procesar esta información a través del Modelo Medallón, el objetivo final es alimentar un tablero interactivo que responda a tres preguntas estratégicas clave para la universidad.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05500" y="2382907"/>
            <a:ext cx="5715001" cy="30138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156370"/>
            <a:ext cx="523875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Antes de codificar, diseñamos el plano de nuestra fábrica de datos bajo el estándar del Modelo Medallón: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3289845"/>
            <a:ext cx="4905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CBD5E1"/>
                </a:solidFill>
                <a:latin typeface="Open Sans"/>
              </a:rPr>
              <a:t>Capa Bronze: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Zona de aterrizaje para la recepción de archivos crudos.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4108995"/>
            <a:ext cx="4905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CBD5E1"/>
                </a:solidFill>
                <a:latin typeface="Open Sans"/>
              </a:rPr>
              <a:t>Capa Silver: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Área de limpieza, estandarización y construcción del modelo relacional.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4928145"/>
            <a:ext cx="4905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CBD5E1"/>
                </a:solidFill>
                <a:latin typeface="Open Sans"/>
              </a:rPr>
              <a:t>Capa Gold: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Cruces estratégicos y vistas listas para el consumo en el Dashboard analítico.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32708"/>
            <a:ext cx="1714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51858"/>
            <a:ext cx="238125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971008"/>
            <a:ext cx="219075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5219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Montserrat"/>
              </a:rPr>
              <a:t>Diseño de Arquitectura de Datos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21726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63960"/>
            <a:ext cx="3429000" cy="4086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163960"/>
            <a:ext cx="3429000" cy="4086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2163960"/>
            <a:ext cx="3429000" cy="4086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411735"/>
            <a:ext cx="298037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Montserrat"/>
              </a:rPr>
              <a:t>Extracción Manual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830835"/>
            <a:ext cx="2838450" cy="1885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Descargamos los archivos en formatos Excel y CSV directamente desde los portales oficiales, imitando el comportamiento futuro del sistema automatizado.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6775" y="3411735"/>
            <a:ext cx="298037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Montserrat"/>
              </a:rPr>
              <a:t>Fuentes Públicas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775" y="3830835"/>
            <a:ext cx="2838450" cy="1571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Recolectamos datos pesados y complejos del BCE, encuestas del INEC, directorios de la Supercías y registros del MINEDUC.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6775" y="3411735"/>
            <a:ext cx="298037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Montserrat"/>
              </a:rPr>
              <a:t>Entorno Virtual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6775" y="3830835"/>
            <a:ext cx="2838450" cy="1885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Instalamos y configuramos un entorno virtual de desarrollo aislado y seguro para preparar nuestras herramientas de transformación.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640210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6775" y="2640210"/>
            <a:ext cx="4572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6775" y="2640210"/>
            <a:ext cx="5715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4893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 dirty="0" err="1">
                <a:solidFill>
                  <a:srgbClr val="F8FAFC"/>
                </a:solidFill>
                <a:latin typeface="Montserrat"/>
              </a:rPr>
              <a:t>Fase</a:t>
            </a:r>
            <a:r>
              <a:rPr sz="3300" b="1" i="0" u="none" dirty="0">
                <a:solidFill>
                  <a:srgbClr val="F8FAFC"/>
                </a:solidFill>
                <a:latin typeface="Montserrat"/>
              </a:rPr>
              <a:t> </a:t>
            </a:r>
            <a:r>
              <a:rPr sz="3300" b="1" i="0" u="none" dirty="0" err="1">
                <a:solidFill>
                  <a:srgbClr val="F8FAFC"/>
                </a:solidFill>
                <a:latin typeface="Montserrat"/>
              </a:rPr>
              <a:t>Inicial</a:t>
            </a:r>
            <a:r>
              <a:rPr sz="3300" b="1" i="0" u="none" dirty="0">
                <a:solidFill>
                  <a:srgbClr val="F8FAFC"/>
                </a:solidFill>
                <a:latin typeface="Montserrat"/>
              </a:rPr>
              <a:t>: </a:t>
            </a:r>
            <a:r>
              <a:rPr sz="3300" b="1" i="0" u="none" dirty="0" err="1">
                <a:solidFill>
                  <a:srgbClr val="F8FAFC"/>
                </a:solidFill>
                <a:latin typeface="Montserrat"/>
              </a:rPr>
              <a:t>Capa</a:t>
            </a:r>
            <a:r>
              <a:rPr sz="3300" b="1" i="0" u="none" dirty="0">
                <a:solidFill>
                  <a:srgbClr val="F8FAFC"/>
                </a:solidFill>
                <a:latin typeface="Montserrat"/>
              </a:rPr>
              <a:t> Bronze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21726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" y="1426815"/>
            <a:ext cx="8820150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94A3B8"/>
                </a:solidFill>
                <a:latin typeface="Open Sans"/>
              </a:rPr>
              <a:t>Para validar la lógica del pipeline, comenzamos simulando el proceso de extracción.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56320"/>
            <a:ext cx="5524500" cy="4391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756320"/>
            <a:ext cx="5524500" cy="43910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1816074"/>
            <a:ext cx="468058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BBF24"/>
                </a:solidFill>
                <a:latin typeface="Montserrat"/>
              </a:rPr>
              <a:t>Los </a:t>
            </a:r>
            <a:r>
              <a:rPr sz="1500" b="1" i="0" u="none" dirty="0" err="1">
                <a:solidFill>
                  <a:srgbClr val="FBBF24"/>
                </a:solidFill>
                <a:latin typeface="Montserrat"/>
              </a:rPr>
              <a:t>Primeros</a:t>
            </a:r>
            <a:r>
              <a:rPr sz="1500" b="1" i="0" u="none" dirty="0">
                <a:solidFill>
                  <a:srgbClr val="FBBF24"/>
                </a:solidFill>
                <a:latin typeface="Montserrat"/>
              </a:rPr>
              <a:t> </a:t>
            </a:r>
            <a:r>
              <a:rPr sz="1500" b="1" i="0" u="none" dirty="0" err="1">
                <a:solidFill>
                  <a:srgbClr val="FBBF24"/>
                </a:solidFill>
                <a:latin typeface="Montserrat"/>
              </a:rPr>
              <a:t>Motores</a:t>
            </a:r>
            <a:r>
              <a:rPr sz="1500" b="1" i="0" u="none" dirty="0">
                <a:solidFill>
                  <a:srgbClr val="FBBF24"/>
                </a:solidFill>
                <a:latin typeface="Montserrat"/>
              </a:rPr>
              <a:t> (Python)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2032683"/>
            <a:ext cx="4457700" cy="609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200" b="0" i="0" u="none" dirty="0">
                <a:solidFill>
                  <a:srgbClr val="CBD5E1"/>
                </a:solidFill>
                <a:latin typeface="Open Sans"/>
              </a:rPr>
              <a:t>Para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procesar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los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archivos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crudos,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desarrollamos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los </a:t>
            </a:r>
            <a:r>
              <a:rPr sz="1200" b="1" i="0" u="none" dirty="0" err="1">
                <a:solidFill>
                  <a:srgbClr val="CBD5E1"/>
                </a:solidFill>
                <a:latin typeface="Open Sans"/>
              </a:rPr>
              <a:t>Módulos</a:t>
            </a:r>
            <a:r>
              <a:rPr sz="1200" b="1" i="0" u="none" dirty="0">
                <a:solidFill>
                  <a:srgbClr val="CBD5E1"/>
                </a:solidFill>
                <a:latin typeface="Open Sans"/>
              </a:rPr>
              <a:t> 1, 2 y 3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utilizando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el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lenguaje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Python.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642145"/>
            <a:ext cx="4457700" cy="12420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Empleamos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librerías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especializadas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para la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manipulación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de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datos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,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normalizando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columnas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,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eliminando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filas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con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ruido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y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estandarizando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formatos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de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fecha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de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estructuras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que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venían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pivotadas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y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desordenadas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275" y="2146845"/>
            <a:ext cx="468058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B82F6"/>
                </a:solidFill>
                <a:latin typeface="Montserrat"/>
              </a:rPr>
              <a:t>Base de Datos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275" y="2642145"/>
            <a:ext cx="445770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Todo el resultado de esta limpieza profunda fue inyectado ordenadamente en una base de datos local </a:t>
            </a:r>
            <a:r>
              <a:rPr sz="1650" b="1" i="0" u="none">
                <a:solidFill>
                  <a:srgbClr val="CBD5E1"/>
                </a:solidFill>
                <a:latin typeface="Open Sans"/>
              </a:rPr>
              <a:t>SQLite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2275" y="3727995"/>
            <a:ext cx="4457700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Aquí se materializó nuestro Modelo Relacional, garantizando que la información del país estuviera estructurada, limpia y lista para relacionarse.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5219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Montserrat"/>
              </a:rPr>
              <a:t>Capa Silver: Limpieza y Modelado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21726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2EF7C55-8353-4279-8189-6C767FF4E87C}"/>
              </a:ext>
            </a:extLst>
          </p:cNvPr>
          <p:cNvSpPr txBox="1"/>
          <p:nvPr/>
        </p:nvSpPr>
        <p:spPr>
          <a:xfrm>
            <a:off x="1046630" y="4045438"/>
            <a:ext cx="1302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1800" b="1" u="none" dirty="0">
                <a:solidFill>
                  <a:srgbClr val="CBD5E1"/>
                </a:solidFill>
                <a:latin typeface="Montserrat" panose="00000500000000000000" pitchFamily="2" charset="0"/>
              </a:rPr>
              <a:t>Modulo 1</a:t>
            </a:r>
            <a:endParaRPr lang="es-EC" b="1" dirty="0">
              <a:latin typeface="Montserrat" panose="00000500000000000000" pitchFamily="2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3D1A15C-8250-4981-A886-8A13E6B48F38}"/>
              </a:ext>
            </a:extLst>
          </p:cNvPr>
          <p:cNvSpPr txBox="1"/>
          <p:nvPr/>
        </p:nvSpPr>
        <p:spPr>
          <a:xfrm>
            <a:off x="3670355" y="4045438"/>
            <a:ext cx="1302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1800" b="1" u="none" dirty="0">
                <a:solidFill>
                  <a:srgbClr val="CBD5E1"/>
                </a:solidFill>
                <a:latin typeface="Montserrat" panose="00000500000000000000" pitchFamily="2" charset="0"/>
              </a:rPr>
              <a:t>Modulo 2</a:t>
            </a:r>
            <a:endParaRPr lang="es-EC" b="1" dirty="0">
              <a:latin typeface="Montserrat" panose="00000500000000000000" pitchFamily="2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7E89BD7-CF36-4055-80AA-348EBBCABFE4}"/>
              </a:ext>
            </a:extLst>
          </p:cNvPr>
          <p:cNvSpPr txBox="1"/>
          <p:nvPr/>
        </p:nvSpPr>
        <p:spPr>
          <a:xfrm>
            <a:off x="672110" y="5380262"/>
            <a:ext cx="1302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1800" b="1" u="none" dirty="0">
                <a:solidFill>
                  <a:srgbClr val="CBD5E1"/>
                </a:solidFill>
                <a:latin typeface="Montserrat" panose="00000500000000000000" pitchFamily="2" charset="0"/>
              </a:rPr>
              <a:t>Modulo 3</a:t>
            </a:r>
            <a:endParaRPr lang="es-EC" b="1" dirty="0">
              <a:latin typeface="Montserrat" panose="00000500000000000000" pitchFamily="2" charset="0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516372E0-FD6A-4CC4-BB95-3B42DA1CC26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3129" r="849" b="-1"/>
          <a:stretch/>
        </p:blipFill>
        <p:spPr>
          <a:xfrm>
            <a:off x="813313" y="4398608"/>
            <a:ext cx="2018558" cy="74298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DC811E79-044D-4FC1-82D4-431AFFCFE5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3590" y="4393530"/>
            <a:ext cx="2561885" cy="74298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3B7F2A0F-56B6-489C-9A78-922403F53C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5124" y="5309188"/>
            <a:ext cx="2461781" cy="6987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951583"/>
            <a:ext cx="523875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89683"/>
            <a:ext cx="523875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Con la Capa Silver construida, desarrollamos el </a:t>
            </a:r>
            <a:r>
              <a:rPr sz="1650" b="1" i="0" u="none">
                <a:solidFill>
                  <a:srgbClr val="CBD5E1"/>
                </a:solidFill>
                <a:latin typeface="Open Sans"/>
              </a:rPr>
              <a:t>Módulo 4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. Su objetivo: responder mediante código a las preguntas planteadas en el documento del reto.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3123158"/>
            <a:ext cx="4905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Ejecutamos bloques de código SQL para crear "Vistas Gold" dinámicas.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942308"/>
            <a:ext cx="4905375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Ejemplos clave: gold_pib_tendencia y la más compleja, gold_bachilleres_vs_empresas.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4780508"/>
            <a:ext cx="4905375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Analizamos y validamos rigurosamente cada cálculo cruzado en el entorno de DB Browser antes de avanzar.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66020"/>
            <a:ext cx="23812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85170"/>
            <a:ext cx="23812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823370"/>
            <a:ext cx="238125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11601450" cy="5219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Montserrat"/>
              </a:rPr>
              <a:t>Capa Gold: Generación de Vistas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21726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79077FDA-EDD9-4D97-B09D-73822D0F1C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9836" y="2814943"/>
            <a:ext cx="5988752" cy="15934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25997"/>
            <a:ext cx="3429000" cy="4362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025997"/>
            <a:ext cx="3429000" cy="4362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2025997"/>
            <a:ext cx="3429000" cy="4362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273772"/>
            <a:ext cx="2980372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F4444"/>
                </a:solidFill>
                <a:latin typeface="Montserrat"/>
              </a:rPr>
              <a:t>El Nuevo Entorno (Oracle)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969097"/>
            <a:ext cx="2838450" cy="1885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Para integrar la automatización, tuvimos que conectarnos directamente a una base de datos Oracle donde el bot depositó la información.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6775" y="3273772"/>
            <a:ext cx="298037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0B981"/>
                </a:solidFill>
                <a:latin typeface="Montserrat"/>
              </a:rPr>
              <a:t>Archivo 1: Catálogos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775" y="3692872"/>
            <a:ext cx="2838450" cy="1571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Recibimos un SQL con sentencias DDL y datos tipo texto (Ej. Directorio Supercías) para estructurar el ecosistema.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6775" y="3273772"/>
            <a:ext cx="298037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B82F6"/>
                </a:solidFill>
                <a:latin typeface="Montserrat"/>
              </a:rPr>
              <a:t>Archivo 2: Métricas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6775" y="3692872"/>
            <a:ext cx="2838450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Un segundo SQL contenía JSONs numéricos puros con series históricas del PIB, VAB y datos de la ENEMDU.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502247"/>
            <a:ext cx="40005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6775" y="2502247"/>
            <a:ext cx="51435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6775" y="2502247"/>
            <a:ext cx="40005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69701"/>
            <a:ext cx="11601450" cy="5219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Montserrat"/>
              </a:rPr>
              <a:t>El Punto de Giro: Integración con RPA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115466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" y="1325016"/>
            <a:ext cx="9991725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94A3B8"/>
                </a:solidFill>
                <a:latin typeface="Open Sans"/>
              </a:rPr>
              <a:t>Durante la fase de visualización, recibimos la entrega oficial del equipo de automatización RPA.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64939"/>
            <a:ext cx="5238750" cy="39757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664940"/>
            <a:ext cx="5238750" cy="3305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1875457"/>
            <a:ext cx="468058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 dirty="0">
                <a:solidFill>
                  <a:srgbClr val="FBBF24"/>
                </a:solidFill>
                <a:latin typeface="Montserrat"/>
              </a:rPr>
              <a:t>El Script Maestro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2197016"/>
            <a:ext cx="4457700" cy="1590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Desechamos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nuestros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scripts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iniciales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y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creamos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un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único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código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unificado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.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Usamos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la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librería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oracledb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para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conectarnos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en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caliente y pandas para "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desarmar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" (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aplanar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) los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complejos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JSONs crudos del RPA.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2275" y="1885340"/>
            <a:ext cx="468058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 dirty="0" err="1">
                <a:solidFill>
                  <a:srgbClr val="FBBF24"/>
                </a:solidFill>
                <a:latin typeface="Montserrat"/>
              </a:rPr>
              <a:t>Limpieza</a:t>
            </a:r>
            <a:r>
              <a:rPr sz="1950" b="1" i="0" u="none" dirty="0">
                <a:solidFill>
                  <a:srgbClr val="FBBF24"/>
                </a:solidFill>
                <a:latin typeface="Montserrat"/>
              </a:rPr>
              <a:t> y </a:t>
            </a:r>
            <a:r>
              <a:rPr sz="1950" b="1" i="0" u="none" dirty="0" err="1">
                <a:solidFill>
                  <a:srgbClr val="FBBF24"/>
                </a:solidFill>
                <a:latin typeface="Montserrat"/>
              </a:rPr>
              <a:t>Recalculo</a:t>
            </a:r>
            <a:endParaRPr sz="1950" b="1" i="0" u="none" dirty="0">
              <a:solidFill>
                <a:srgbClr val="FBBF24"/>
              </a:solidFill>
              <a:latin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72275" y="2199615"/>
            <a:ext cx="4457700" cy="1885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Procesamos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los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datos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por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lotes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(chunks)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solucionando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graves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errores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de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codificación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("Mojibake").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Finalmente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,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recreamos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exactamente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las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mismas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1" i="0" u="none" dirty="0">
                <a:solidFill>
                  <a:srgbClr val="CBD5E1"/>
                </a:solidFill>
                <a:latin typeface="Open Sans"/>
              </a:rPr>
              <a:t>Vistas Gold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en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SQLite, probando la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adaptabilidad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de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nuestra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arquitectura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219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Montserrat"/>
              </a:rPr>
              <a:t>Auditoría RPA y Nuevas Vistas Gold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21726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FFB42B2-FEE5-4554-9AB2-E4D7497C81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404" y="4117802"/>
            <a:ext cx="4095372" cy="10418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951583"/>
            <a:ext cx="523875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94445"/>
            <a:ext cx="523875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Un pipeline automático no sirve si falla en silencio. Para garantizar fiabilidad empresarial, implementamos </a:t>
            </a:r>
            <a:r>
              <a:rPr sz="1650" b="1" i="0" u="none">
                <a:solidFill>
                  <a:srgbClr val="CBD5E1"/>
                </a:solidFill>
                <a:latin typeface="Open Sans"/>
              </a:rPr>
              <a:t>Prefect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3127920"/>
            <a:ext cx="4905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Actúa como el </a:t>
            </a:r>
            <a:r>
              <a:rPr sz="1650" b="1" i="0" u="none">
                <a:solidFill>
                  <a:srgbClr val="CBD5E1"/>
                </a:solidFill>
                <a:latin typeface="Open Sans"/>
              </a:rPr>
              <a:t>Director de Orquesta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del proyecto.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947070"/>
            <a:ext cx="4905375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Usando decoradores (@task y @flow), define el orden estricto en que deben ejecutarse las limpiezas y cruces.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5090070"/>
            <a:ext cx="4905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Si un dato falla, lo aísla y alerta, evitando que toda la base de datos colapse.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7275" y="3223170"/>
            <a:ext cx="647700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60857" y="3937545"/>
            <a:ext cx="428053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94A3B8"/>
                </a:solidFill>
                <a:latin typeface="Montserrat"/>
              </a:rPr>
              <a:t>[ ESPACIO PARA CAPTURA DE PREFECT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24725" y="4309020"/>
            <a:ext cx="3352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Open Sans"/>
              </a:rPr>
              <a:t>(Pega aquí tu captura de ejecución de consola)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70783"/>
            <a:ext cx="219075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89933"/>
            <a:ext cx="219075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132933"/>
            <a:ext cx="219075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5219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Montserrat"/>
              </a:rPr>
              <a:t>Orquestación: Gobernabilidad Total con Prefect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21726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5550693" cy="1024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Montserrat"/>
              </a:rPr>
              <a:t>El Entregable: Dashboard Analítico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720155"/>
            <a:ext cx="5286375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2226915"/>
            <a:ext cx="5286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Conectamos finalmente nuestra Capa Gold a </a:t>
            </a:r>
            <a:r>
              <a:rPr sz="1650" b="1" i="0" u="none">
                <a:solidFill>
                  <a:srgbClr val="CBD5E1"/>
                </a:solidFill>
                <a:latin typeface="Open Sans"/>
              </a:rPr>
              <a:t>Power BI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998440"/>
            <a:ext cx="5286375" cy="1256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CBD5E1"/>
                </a:solidFill>
                <a:latin typeface="Open Sans"/>
              </a:rPr>
              <a:t>El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resultado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es un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tablero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gerencial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dividido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en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tres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páginas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clave que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responden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a las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preguntas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del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documento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.</a:t>
            </a:r>
            <a:endParaRPr lang="es-ES" sz="1650" b="0" i="0" u="none" dirty="0">
              <a:solidFill>
                <a:srgbClr val="CBD5E1"/>
              </a:solidFill>
              <a:latin typeface="Open Sans"/>
            </a:endParaRPr>
          </a:p>
          <a:p>
            <a:pPr algn="l">
              <a:lnSpc>
                <a:spcPts val="2475"/>
              </a:lnSpc>
            </a:pPr>
            <a:endParaRPr sz="1650" b="0" i="0" u="none" dirty="0">
              <a:solidFill>
                <a:srgbClr val="CBD5E1"/>
              </a:solidFill>
              <a:latin typeface="Open Sans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4A857EF-56B7-4C04-8C54-AD58A3F9A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7" y="1714500"/>
            <a:ext cx="5524987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528762"/>
            <a:ext cx="762000" cy="76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2576512"/>
            <a:ext cx="11601450" cy="695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>
                <a:solidFill>
                  <a:srgbClr val="F8FAFC"/>
                </a:solidFill>
                <a:latin typeface="Montserrat"/>
              </a:rPr>
              <a:t>Misión Cumplida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462337"/>
            <a:ext cx="8572500" cy="7876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100" b="0" i="0" u="none" dirty="0">
                <a:solidFill>
                  <a:srgbClr val="CBD5E1"/>
                </a:solidFill>
                <a:latin typeface="Open Sans"/>
              </a:rPr>
              <a:t>"</a:t>
            </a:r>
            <a:r>
              <a:rPr sz="2100" b="0" i="0" u="none" dirty="0" err="1">
                <a:solidFill>
                  <a:srgbClr val="CBD5E1"/>
                </a:solidFill>
                <a:latin typeface="Open Sans"/>
              </a:rPr>
              <a:t>Reemplazamos</a:t>
            </a:r>
            <a:r>
              <a:rPr sz="210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2100" b="0" i="0" u="none" dirty="0" err="1">
                <a:solidFill>
                  <a:srgbClr val="CBD5E1"/>
                </a:solidFill>
                <a:latin typeface="Open Sans"/>
              </a:rPr>
              <a:t>descargas</a:t>
            </a:r>
            <a:r>
              <a:rPr sz="210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2100" b="0" i="0" u="none" dirty="0" err="1">
                <a:solidFill>
                  <a:srgbClr val="CBD5E1"/>
                </a:solidFill>
                <a:latin typeface="Open Sans"/>
              </a:rPr>
              <a:t>manuales</a:t>
            </a:r>
            <a:r>
              <a:rPr sz="2100" b="0" i="0" u="none" dirty="0">
                <a:solidFill>
                  <a:srgbClr val="CBD5E1"/>
                </a:solidFill>
                <a:latin typeface="Open Sans"/>
              </a:rPr>
              <a:t> por un </a:t>
            </a:r>
            <a:r>
              <a:rPr sz="2100" b="0" i="0" u="none" dirty="0" err="1">
                <a:solidFill>
                  <a:srgbClr val="CBD5E1"/>
                </a:solidFill>
                <a:latin typeface="Open Sans"/>
              </a:rPr>
              <a:t>ecosistema</a:t>
            </a:r>
            <a:r>
              <a:rPr sz="210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2100" b="0" i="0" u="none" dirty="0" err="1">
                <a:solidFill>
                  <a:srgbClr val="CBD5E1"/>
                </a:solidFill>
                <a:latin typeface="Open Sans"/>
              </a:rPr>
              <a:t>gobernado</a:t>
            </a:r>
            <a:r>
              <a:rPr sz="2100" b="0" i="0" u="none" dirty="0">
                <a:solidFill>
                  <a:srgbClr val="CBD5E1"/>
                </a:solidFill>
                <a:latin typeface="Open Sans"/>
              </a:rPr>
              <a:t>, </a:t>
            </a:r>
            <a:r>
              <a:rPr sz="2100" b="0" i="0" u="none" dirty="0" err="1">
                <a:solidFill>
                  <a:srgbClr val="CBD5E1"/>
                </a:solidFill>
                <a:latin typeface="Open Sans"/>
              </a:rPr>
              <a:t>orquestado</a:t>
            </a:r>
            <a:r>
              <a:rPr sz="2100" b="0" i="0" u="none" dirty="0">
                <a:solidFill>
                  <a:srgbClr val="CBD5E1"/>
                </a:solidFill>
                <a:latin typeface="Open Sans"/>
              </a:rPr>
              <a:t> y </a:t>
            </a:r>
            <a:r>
              <a:rPr sz="2100" b="0" i="0" u="none" dirty="0" err="1">
                <a:solidFill>
                  <a:srgbClr val="CBD5E1"/>
                </a:solidFill>
                <a:latin typeface="Open Sans"/>
              </a:rPr>
              <a:t>escalable</a:t>
            </a:r>
            <a:r>
              <a:rPr sz="2100" b="0" i="0" u="none" dirty="0">
                <a:solidFill>
                  <a:srgbClr val="CBD5E1"/>
                </a:solidFill>
                <a:latin typeface="Open Sans"/>
              </a:rPr>
              <a:t>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043487"/>
            <a:ext cx="11049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 dirty="0">
                <a:solidFill>
                  <a:srgbClr val="94A3B8"/>
                </a:solidFill>
                <a:latin typeface="Open Sans"/>
              </a:rPr>
              <a:t>GRACIAS POR SU ATENCIÓN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779</Words>
  <Application>Microsoft Office PowerPoint</Application>
  <PresentationFormat>Panorámica</PresentationFormat>
  <Paragraphs>62</Paragraphs>
  <Slides>11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Montserrat</vt:lpstr>
      <vt:lpstr>Open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GAMING RTX</dc:creator>
  <cp:keywords/>
  <dc:description>generated using python-pptx</dc:description>
  <cp:lastModifiedBy>JESUS ALEJANDRO RIVAS REINOSO</cp:lastModifiedBy>
  <cp:revision>7</cp:revision>
  <dcterms:created xsi:type="dcterms:W3CDTF">2013-01-27T09:14:16Z</dcterms:created>
  <dcterms:modified xsi:type="dcterms:W3CDTF">2026-07-14T21:16:52Z</dcterms:modified>
  <cp:category/>
</cp:coreProperties>
</file>